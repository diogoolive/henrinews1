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3" r:id="rId4"/>
    <p:sldId id="265" r:id="rId5"/>
    <p:sldId id="257" r:id="rId6"/>
    <p:sldId id="258" r:id="rId7"/>
    <p:sldId id="260" r:id="rId8"/>
    <p:sldId id="261" r:id="rId9"/>
    <p:sldId id="262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487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HenriNews • E.E. Henrique Fernando Gomes Estudante •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HenriNews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90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E7FF"/>
                </a:solidFill>
              </a:rPr>
              <a:t>Apresentação do sistema desenvolvido para o TCC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82341"/>
            <a:ext cx="333756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Diogo Oliveira de Miranda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Felipe Henrique Anderson de Deus Trinca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Josué Emanuel do Nascimento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Wesley Alexandre Aurora de Oliveira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38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Barueri •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74920" y="658368"/>
            <a:ext cx="662940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94A3B8">
                <a:alpha val="2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212080" y="601675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Portal escolar com notícias, biblioteca, enquetes, suporte e gestão.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67F079F-E4F8-3DA0-EA04-E0BC81BD3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378" y="2067101"/>
            <a:ext cx="6506483" cy="28007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1.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Cadastro de Usuário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8408" y="8503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Criação de uma conta escolar no HenriNews.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307592"/>
            <a:ext cx="7406640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image(20261021-13571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924295"/>
            <a:ext cx="7333488" cy="339345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417320"/>
            <a:ext cx="3529584" cy="4407408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39419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87968" y="166420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Funcionamento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58200" y="235000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41080" y="2286000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Solicita nome completo, e-mail e senha.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458200" y="3054096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41080" y="2990088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Novas contas são criadas inicialmente com perfil de aluno.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458200" y="3758184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41080" y="3694176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O perfil fica vinculado ao sistema de autenticação e ao banco de dados.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458200" y="446227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Permissões de gestor são controladas separadamente pelo sistema.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2.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Login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8408" y="8503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Entrada segura para acessar os recursos personalizados.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307592"/>
            <a:ext cx="7406640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image(20261021-13570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56071"/>
            <a:ext cx="7333488" cy="31299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417320"/>
            <a:ext cx="3529584" cy="4407408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39419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87968" y="166420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 que acontece aqui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58200" y="235000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41080" y="2286000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Autentica o usuário por e-mail e senha usando Supabase Auth.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458200" y="3054096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41080" y="2990088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Identifica o perfil como aluno ou gestor.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458200" y="3758184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41080" y="3694176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Libera recursos como votar, salvar notícias e solicitar livros.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458200" y="446227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Também oferece acesso à recuperação de senha.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3.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Recuperação de Senha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8408" y="8503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Fluxo para redefinir o acesso à conta.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307592"/>
            <a:ext cx="7406640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image(20261021-13572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11347"/>
            <a:ext cx="7333488" cy="28193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417320"/>
            <a:ext cx="3529584" cy="4407408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39419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87968" y="166420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Etapas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58200" y="235000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41080" y="2286000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O usuário informa o e-mail cadastrado.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458200" y="3054096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41080" y="2990088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O Supabase envia um link seguro de recuperação.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458200" y="3758184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41080" y="3694176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Pelo link, é possível cadastrar uma nova senha.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458200" y="446227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Depois da alteração, o usuário volta ao login normalmente.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4.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Feed de Notícias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8408" y="8503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Tela inicial pública do HenriNews.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307592"/>
            <a:ext cx="7406640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image(20261021-13554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922804"/>
            <a:ext cx="7333488" cy="33964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417320"/>
            <a:ext cx="3529584" cy="4407408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39419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87968" y="166420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 que esta tela faz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58200" y="235000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41080" y="2286000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Exibe as notícias e comunicados publicados pela escola.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458200" y="3054096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41080" y="2990088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Permite abrir a notícia completa e visualizar seu conteúdo.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458200" y="3758184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41080" y="3694176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Usuários logados podem salvar matérias para ler depois.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458200" y="446227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O menu superior dá acesso às demais áreas do sistema.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5.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Biblioteca Digital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69264" y="920496"/>
            <a:ext cx="11213592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 err="1">
                <a:solidFill>
                  <a:srgbClr val="64748B"/>
                </a:solidFill>
              </a:rPr>
              <a:t>Busca</a:t>
            </a:r>
            <a:r>
              <a:rPr lang="en-US" sz="1250" dirty="0">
                <a:solidFill>
                  <a:srgbClr val="64748B"/>
                </a:solidFill>
              </a:rPr>
              <a:t>, solicitação de </a:t>
            </a:r>
            <a:r>
              <a:rPr lang="en-US" sz="1250" dirty="0" err="1">
                <a:solidFill>
                  <a:srgbClr val="64748B"/>
                </a:solidFill>
              </a:rPr>
              <a:t>empréstimos</a:t>
            </a:r>
            <a:r>
              <a:rPr lang="en-US" sz="1250" dirty="0">
                <a:solidFill>
                  <a:srgbClr val="64748B"/>
                </a:solidFill>
              </a:rPr>
              <a:t> e </a:t>
            </a:r>
            <a:r>
              <a:rPr lang="en-US" sz="1250" dirty="0" err="1">
                <a:solidFill>
                  <a:srgbClr val="64748B"/>
                </a:solidFill>
              </a:rPr>
              <a:t>Organização</a:t>
            </a:r>
            <a:r>
              <a:rPr lang="en-US" sz="1250" dirty="0">
                <a:solidFill>
                  <a:srgbClr val="64748B"/>
                </a:solidFill>
              </a:rPr>
              <a:t> do </a:t>
            </a:r>
            <a:r>
              <a:rPr lang="en-US" sz="1250" dirty="0" err="1">
                <a:solidFill>
                  <a:srgbClr val="64748B"/>
                </a:solidFill>
              </a:rPr>
              <a:t>acervo</a:t>
            </a:r>
            <a:r>
              <a:rPr lang="en-US" sz="1250" dirty="0">
                <a:solidFill>
                  <a:srgbClr val="64748B"/>
                </a:solidFill>
              </a:rPr>
              <a:t> para </a:t>
            </a:r>
            <a:r>
              <a:rPr lang="en-US" sz="1250" dirty="0" err="1">
                <a:solidFill>
                  <a:srgbClr val="64748B"/>
                </a:solidFill>
              </a:rPr>
              <a:t>facilitar</a:t>
            </a:r>
            <a:r>
              <a:rPr lang="en-US" sz="1250" dirty="0">
                <a:solidFill>
                  <a:srgbClr val="64748B"/>
                </a:solidFill>
              </a:rPr>
              <a:t> a </a:t>
            </a:r>
            <a:r>
              <a:rPr lang="en-US" sz="1250" dirty="0" err="1">
                <a:solidFill>
                  <a:srgbClr val="64748B"/>
                </a:solidFill>
              </a:rPr>
              <a:t>navegação</a:t>
            </a:r>
            <a:r>
              <a:rPr lang="en-US" sz="1250" dirty="0">
                <a:solidFill>
                  <a:srgbClr val="64748B"/>
                </a:solidFill>
              </a:rPr>
              <a:t>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307592"/>
            <a:ext cx="7406640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138160" y="1417320"/>
            <a:ext cx="3529584" cy="4407408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39419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87968" y="166420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Principais funções</a:t>
            </a:r>
            <a:endParaRPr lang="en-US" sz="1800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3AA10EC-04B2-646F-176F-ED7157B34CAD}"/>
              </a:ext>
            </a:extLst>
          </p:cNvPr>
          <p:cNvGrpSpPr/>
          <p:nvPr/>
        </p:nvGrpSpPr>
        <p:grpSpPr>
          <a:xfrm>
            <a:off x="8458200" y="2286000"/>
            <a:ext cx="2935224" cy="512064"/>
            <a:chOff x="8458200" y="2286000"/>
            <a:chExt cx="2935224" cy="512064"/>
          </a:xfrm>
        </p:grpSpPr>
        <p:sp>
          <p:nvSpPr>
            <p:cNvPr id="10" name="Shape 7"/>
            <p:cNvSpPr/>
            <p:nvPr/>
          </p:nvSpPr>
          <p:spPr>
            <a:xfrm>
              <a:off x="8458200" y="2350008"/>
              <a:ext cx="82296" cy="82296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8"/>
            <p:cNvSpPr/>
            <p:nvPr/>
          </p:nvSpPr>
          <p:spPr>
            <a:xfrm>
              <a:off x="8641080" y="2286000"/>
              <a:ext cx="27523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0F172A"/>
                  </a:solidFill>
                </a:rPr>
                <a:t>Pesquisa livros por título, autor ou descrição.</a:t>
              </a:r>
              <a:endParaRPr lang="en-US" sz="1320" dirty="0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3669BBD2-CC33-DC6F-E7A3-6A8B37CE4C37}"/>
              </a:ext>
            </a:extLst>
          </p:cNvPr>
          <p:cNvGrpSpPr/>
          <p:nvPr/>
        </p:nvGrpSpPr>
        <p:grpSpPr>
          <a:xfrm>
            <a:off x="8458200" y="2816352"/>
            <a:ext cx="2935224" cy="512064"/>
            <a:chOff x="8458200" y="2990088"/>
            <a:chExt cx="2935224" cy="512064"/>
          </a:xfrm>
        </p:grpSpPr>
        <p:sp>
          <p:nvSpPr>
            <p:cNvPr id="12" name="Shape 9"/>
            <p:cNvSpPr/>
            <p:nvPr/>
          </p:nvSpPr>
          <p:spPr>
            <a:xfrm>
              <a:off x="8458200" y="3054096"/>
              <a:ext cx="82296" cy="82296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0"/>
            <p:cNvSpPr/>
            <p:nvPr/>
          </p:nvSpPr>
          <p:spPr>
            <a:xfrm>
              <a:off x="8641080" y="2990088"/>
              <a:ext cx="27523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0F172A"/>
                  </a:solidFill>
                </a:rPr>
                <a:t>Mostra os livros adicionados recentemente ao acervo.</a:t>
              </a:r>
              <a:endParaRPr lang="en-US" sz="1320" dirty="0"/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1414A8B-B565-08EF-5C72-C564FA6FABB7}"/>
              </a:ext>
            </a:extLst>
          </p:cNvPr>
          <p:cNvGrpSpPr/>
          <p:nvPr/>
        </p:nvGrpSpPr>
        <p:grpSpPr>
          <a:xfrm>
            <a:off x="8458200" y="3346704"/>
            <a:ext cx="2935224" cy="512064"/>
            <a:chOff x="8458200" y="3694176"/>
            <a:chExt cx="2935224" cy="512064"/>
          </a:xfrm>
        </p:grpSpPr>
        <p:sp>
          <p:nvSpPr>
            <p:cNvPr id="14" name="Shape 11"/>
            <p:cNvSpPr/>
            <p:nvPr/>
          </p:nvSpPr>
          <p:spPr>
            <a:xfrm>
              <a:off x="8458200" y="3758184"/>
              <a:ext cx="82296" cy="82296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2"/>
            <p:cNvSpPr/>
            <p:nvPr/>
          </p:nvSpPr>
          <p:spPr>
            <a:xfrm>
              <a:off x="8641080" y="3694176"/>
              <a:ext cx="27523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0F172A"/>
                  </a:solidFill>
                </a:rPr>
                <a:t>Exibe a quantidade de exemplares disponíveis.</a:t>
              </a:r>
              <a:endParaRPr lang="en-US" sz="1320" dirty="0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60519BD4-2099-86E7-FB14-D68BC0FD4952}"/>
              </a:ext>
            </a:extLst>
          </p:cNvPr>
          <p:cNvGrpSpPr/>
          <p:nvPr/>
        </p:nvGrpSpPr>
        <p:grpSpPr>
          <a:xfrm>
            <a:off x="8458200" y="3877056"/>
            <a:ext cx="2935224" cy="512064"/>
            <a:chOff x="8458200" y="4398264"/>
            <a:chExt cx="2935224" cy="512064"/>
          </a:xfrm>
        </p:grpSpPr>
        <p:sp>
          <p:nvSpPr>
            <p:cNvPr id="16" name="Shape 13"/>
            <p:cNvSpPr/>
            <p:nvPr/>
          </p:nvSpPr>
          <p:spPr>
            <a:xfrm>
              <a:off x="8458200" y="4462272"/>
              <a:ext cx="82296" cy="82296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14"/>
            <p:cNvSpPr/>
            <p:nvPr/>
          </p:nvSpPr>
          <p:spPr>
            <a:xfrm>
              <a:off x="8641080" y="4398264"/>
              <a:ext cx="27523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0F172A"/>
                  </a:solidFill>
                </a:rPr>
                <a:t>Usuários logados podem solicitar o empréstimo diretamente pelo site.</a:t>
              </a:r>
              <a:endParaRPr lang="en-US" sz="132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9" name="Image 0" descr="/mnt/data/image(20261021-135612).png">
            <a:extLst>
              <a:ext uri="{FF2B5EF4-FFF2-40B4-BE49-F238E27FC236}">
                <a16:creationId xmlns:a16="http://schemas.microsoft.com/office/drawing/2014/main" id="{F1D2E3C7-EC9A-3988-C348-F01EF99C4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29000"/>
            <a:ext cx="7370064" cy="2505455"/>
          </a:xfrm>
          <a:prstGeom prst="rect">
            <a:avLst/>
          </a:prstGeom>
        </p:spPr>
      </p:pic>
      <p:pic>
        <p:nvPicPr>
          <p:cNvPr id="21" name="Image 0" descr="/mnt/data/image(20261021-135600).png">
            <a:extLst>
              <a:ext uri="{FF2B5EF4-FFF2-40B4-BE49-F238E27FC236}">
                <a16:creationId xmlns:a16="http://schemas.microsoft.com/office/drawing/2014/main" id="{F78D3823-D312-3457-0148-7A7498C7B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" y="1316737"/>
            <a:ext cx="7406640" cy="2377440"/>
          </a:xfrm>
          <a:prstGeom prst="rect">
            <a:avLst/>
          </a:prstGeom>
        </p:spPr>
      </p:pic>
      <p:grpSp>
        <p:nvGrpSpPr>
          <p:cNvPr id="30" name="Agrupar 29">
            <a:extLst>
              <a:ext uri="{FF2B5EF4-FFF2-40B4-BE49-F238E27FC236}">
                <a16:creationId xmlns:a16="http://schemas.microsoft.com/office/drawing/2014/main" id="{23000729-DA67-14C3-2C40-36CD25A68532}"/>
              </a:ext>
            </a:extLst>
          </p:cNvPr>
          <p:cNvGrpSpPr/>
          <p:nvPr/>
        </p:nvGrpSpPr>
        <p:grpSpPr>
          <a:xfrm>
            <a:off x="8458200" y="4410456"/>
            <a:ext cx="2935224" cy="512064"/>
            <a:chOff x="8458200" y="2286000"/>
            <a:chExt cx="2935224" cy="512064"/>
          </a:xfrm>
        </p:grpSpPr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DA35DB18-C9D2-1E3C-795B-51BA1FA90F14}"/>
                </a:ext>
              </a:extLst>
            </p:cNvPr>
            <p:cNvSpPr/>
            <p:nvPr/>
          </p:nvSpPr>
          <p:spPr>
            <a:xfrm>
              <a:off x="8458200" y="2350008"/>
              <a:ext cx="82296" cy="82296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F0A4FF2A-1BC6-E039-874D-46585FE3BFE6}"/>
                </a:ext>
              </a:extLst>
            </p:cNvPr>
            <p:cNvSpPr/>
            <p:nvPr/>
          </p:nvSpPr>
          <p:spPr>
            <a:xfrm>
              <a:off x="8641080" y="2286000"/>
              <a:ext cx="27523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0F172A"/>
                  </a:solidFill>
                </a:rPr>
                <a:t>Divide o acervo em gêneros e subgêneros.</a:t>
              </a:r>
              <a:endParaRPr lang="en-US" sz="1320" dirty="0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1A0E8E20-67A1-61AD-3FE8-23FB2DC1972B}"/>
              </a:ext>
            </a:extLst>
          </p:cNvPr>
          <p:cNvGrpSpPr/>
          <p:nvPr/>
        </p:nvGrpSpPr>
        <p:grpSpPr>
          <a:xfrm>
            <a:off x="8458200" y="4861560"/>
            <a:ext cx="2935224" cy="512064"/>
            <a:chOff x="8458200" y="2990088"/>
            <a:chExt cx="2935224" cy="512064"/>
          </a:xfrm>
        </p:grpSpPr>
        <p:sp>
          <p:nvSpPr>
            <p:cNvPr id="37" name="Shape 9">
              <a:extLst>
                <a:ext uri="{FF2B5EF4-FFF2-40B4-BE49-F238E27FC236}">
                  <a16:creationId xmlns:a16="http://schemas.microsoft.com/office/drawing/2014/main" id="{F5356FD7-8A20-AF9E-7B0F-8FABADC3E3DD}"/>
                </a:ext>
              </a:extLst>
            </p:cNvPr>
            <p:cNvSpPr/>
            <p:nvPr/>
          </p:nvSpPr>
          <p:spPr>
            <a:xfrm>
              <a:off x="8458200" y="3054096"/>
              <a:ext cx="82296" cy="82296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 10">
              <a:extLst>
                <a:ext uri="{FF2B5EF4-FFF2-40B4-BE49-F238E27FC236}">
                  <a16:creationId xmlns:a16="http://schemas.microsoft.com/office/drawing/2014/main" id="{74768446-A27F-0FFB-49B7-96D9C86078C7}"/>
                </a:ext>
              </a:extLst>
            </p:cNvPr>
            <p:cNvSpPr/>
            <p:nvPr/>
          </p:nvSpPr>
          <p:spPr>
            <a:xfrm>
              <a:off x="8641080" y="2990088"/>
              <a:ext cx="27523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0F172A"/>
                  </a:solidFill>
                </a:rPr>
                <a:t>Mostra quantos livros e subgêneros existem em cada categoria.</a:t>
              </a:r>
              <a:endParaRPr lang="en-US" sz="132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6.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Enquetes — Voz do Estudante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8408" y="8503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Espaço para participação dos alunos nas decisões da escola.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307592"/>
            <a:ext cx="7406640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image(20261021-13562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76728"/>
            <a:ext cx="7333488" cy="2888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417320"/>
            <a:ext cx="3529584" cy="4407408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39419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87968" y="166420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 que esta tela faz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58200" y="235000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41080" y="2286000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Apresenta as enquetes ativas criadas pela gestão.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458200" y="3054096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41080" y="2990088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O aluno escolhe uma opção e registra seu voto.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458200" y="375818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41080" y="3694176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O sistema exibe total de votos e percentual de cada alternativa.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458200" y="44622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Cada usuário autenticado pode votar apenas uma vez em cada enquete.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7.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Gestão &amp; Corpo Acadêmico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8408" y="8503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Área institucional com informações sobre a equipe escolar.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307592"/>
            <a:ext cx="7406640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image(20261021-13563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918466"/>
            <a:ext cx="7333488" cy="340511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417320"/>
            <a:ext cx="3529584" cy="4407408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39419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87968" y="166420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Objetivo da tela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58200" y="235000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41080" y="2286000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Apresenta membros da direção, coordenação e equipe acadêmica.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458200" y="3054096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41080" y="2990088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Mostra o cargo e as principais responsabilidades de cada pessoa.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458200" y="3758184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41080" y="3694176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Ajuda alunos e famílias a entenderem a organização da escola.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458200" y="446227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Centraliza informações institucionais dentro do próprio portal.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8.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Ajuda &amp; Central de Suporte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8408" y="8503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Canal de dúvidas entre usuários e a equipe responsável.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307592"/>
            <a:ext cx="7406640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image(20261021-13565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92217"/>
            <a:ext cx="7333488" cy="34576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417320"/>
            <a:ext cx="3529584" cy="4407408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39419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87968" y="166420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Recursos de suporte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58200" y="235000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41080" y="2286000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Disponibiliza perguntas frequentes sobre o uso da plataforma.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458200" y="305409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41080" y="2990088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Permite enviar dúvidas informando nome, e-mail e mensagem.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458200" y="375818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41080" y="3694176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As solicitações ficam registradas no banco de dados.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458200" y="446227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O gestor pode responder e o usuário logado acompanha a resposta.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608" y="326136"/>
            <a:ext cx="621792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9.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Painel do Gestor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8408" y="8503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Área administrativa reservada a usuários autorizados.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307592"/>
            <a:ext cx="7406640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image(20261021-13580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15251"/>
            <a:ext cx="7333488" cy="30115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417320"/>
            <a:ext cx="3529584" cy="4407408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39419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887968" y="166420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 gestor pode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58200" y="235000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41080" y="2286000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Criar, editar, publicar ou excluir notícias.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458200" y="3054096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41080" y="2990088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Cadastrar livros e controlar empréstimos e devoluções.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458200" y="375818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41080" y="3694176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Criar enquetes para participação dos estudantes.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458200" y="44622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752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Visualizar dúvidas do suporte, responder e marcar como resolvidas.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296" y="438912"/>
            <a:ext cx="64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</a:rPr>
              <a:t>10.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9264" y="393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Recursos gerais do 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8408" y="8503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Funcionalidades presentes em diferentes telas do HenriNews.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60120" y="18013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554480" y="17647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Design responsivo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35915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</a:rPr>
              <a:t>A interface se adapta ao computador e ao celular, mantendo menus, cards e formulários utilizáveis em telas menores.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583680" y="18013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178040" y="17647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0F172A"/>
                </a:solidFill>
              </a:rPr>
              <a:t>Light e </a:t>
            </a:r>
            <a:r>
              <a:rPr lang="en-US" b="1" dirty="0">
                <a:solidFill>
                  <a:srgbClr val="0F172A"/>
                </a:solidFill>
              </a:rPr>
              <a:t>Dark Mode</a:t>
            </a:r>
          </a:p>
        </p:txBody>
      </p:sp>
      <p:sp>
        <p:nvSpPr>
          <p:cNvPr id="12" name="Text 10"/>
          <p:cNvSpPr/>
          <p:nvPr/>
        </p:nvSpPr>
        <p:spPr>
          <a:xfrm>
            <a:off x="6583680" y="235915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</a:rPr>
              <a:t>O usuário pode alternar o tema do site. A preferência fica salva no navegador para os próximos acessos.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85800" y="365760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960120" y="395020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554480" y="39136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Banco de dados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50799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</a:rPr>
              <a:t>Notícias, livros, empréstimos, votos, perfis e suporte ficam armazenados no PostgreSQL do Supabase.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583680" y="395020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178040" y="39136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Segurança e permissões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450799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</a:rPr>
              <a:t>Supabase Auth e políticas RLS controlam quem pode visualizar ou alterar dados, separando alunos e gestores.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</a:rPr>
              <a:t>HenriNews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</a:rPr>
              <a:t>O que o projeto entrega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4748B"/>
                </a:solidFill>
              </a:rPr>
              <a:t>Um único ambiente digital para aproximar estudantes, biblioteca e gestão escolar.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7889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14400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527048" y="30175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Comunicação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</a:rPr>
              <a:t>Notícias, comunicados e informações institucionais reunidos em um único portal.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425696" y="27889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81728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294376" y="30175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Participação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81728" y="3703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</a:rPr>
              <a:t>Enquetes, biblioteca e suporte tornam o aluno parte ativa do ambiente escolar.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193024" y="27889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449056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061704" y="30175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Gestão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49056" y="3703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</a:rPr>
              <a:t>Painel administrativo centraliza publicação de conteúdo, empréstimos, enquetes e atendimento.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F46E5"/>
                </a:solidFill>
              </a:rPr>
              <a:t>Obrigado pela atenção!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3737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753</Words>
  <Application>Microsoft Office PowerPoint</Application>
  <PresentationFormat>Widescreen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E.E. Henrique Fernando Gomes Estudante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HenriNews - Telas e Funcionalidades</dc:title>
  <dc:subject>HenriNews - Telas e Funcionalidades</dc:subject>
  <dc:creator>OpenAI</dc:creator>
  <cp:lastModifiedBy>Diogo Oliveira De Miranda</cp:lastModifiedBy>
  <cp:revision>3</cp:revision>
  <dcterms:created xsi:type="dcterms:W3CDTF">2026-10-21T14:00:48Z</dcterms:created>
  <dcterms:modified xsi:type="dcterms:W3CDTF">2026-10-21T14:33:45Z</dcterms:modified>
</cp:coreProperties>
</file>